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60" r:id="rId6"/>
    <p:sldMasterId id="2147483662" r:id="rId7"/>
    <p:sldMasterId id="2147483664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hEJo65ByKH9tdRn9KYNTkK85wG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D97CA8-683E-4286-9753-C7F4AE4B7864}">
  <a:tblStyle styleId="{FED97CA8-683E-4286-9753-C7F4AE4B78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Mono-bold.fntdata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32" Type="http://customschemas.google.com/relationships/presentationmetadata" Target="meta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7fc18b63_7_11:notes"/>
          <p:cNvSpPr/>
          <p:nvPr>
            <p:ph idx="2" type="sldImg"/>
          </p:nvPr>
        </p:nvSpPr>
        <p:spPr>
          <a:xfrm>
            <a:off x="1893299" y="685965"/>
            <a:ext cx="3071401" cy="342982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b97fc18b63_7_11:notes"/>
          <p:cNvSpPr txBox="1"/>
          <p:nvPr>
            <p:ph idx="1" type="body"/>
          </p:nvPr>
        </p:nvSpPr>
        <p:spPr>
          <a:xfrm>
            <a:off x="685801" y="4343409"/>
            <a:ext cx="5486400" cy="411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97fc18b63_7_11:notes"/>
          <p:cNvSpPr txBox="1"/>
          <p:nvPr>
            <p:ph idx="12" type="sldNum"/>
          </p:nvPr>
        </p:nvSpPr>
        <p:spPr>
          <a:xfrm>
            <a:off x="3884615" y="8685229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7fc18b63_7_31:notes"/>
          <p:cNvSpPr txBox="1"/>
          <p:nvPr>
            <p:ph idx="1" type="body"/>
          </p:nvPr>
        </p:nvSpPr>
        <p:spPr>
          <a:xfrm>
            <a:off x="685801" y="4343409"/>
            <a:ext cx="5486400" cy="41148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b97fc18b63_7_31:notes"/>
          <p:cNvSpPr/>
          <p:nvPr>
            <p:ph idx="2" type="sldImg"/>
          </p:nvPr>
        </p:nvSpPr>
        <p:spPr>
          <a:xfrm>
            <a:off x="1893299" y="685965"/>
            <a:ext cx="3071401" cy="342982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7fc18b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97fc18b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fc59eb6f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bfc59eb6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c59eb6f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bfc59eb6f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d04727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b8d04727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97fc18b63_8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97fc18b63_8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e323c6e4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be323c6e4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97fc18b63_8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b97fc18b63_8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97fc18b63_8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b97fc18b63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f9fbab68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bf9fbab68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97fc18b63_8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b97fc18b63_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f9fbab68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bf9fbab68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e323c6e4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be323c6e4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97fc18b63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b97fc18b63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e323c6e4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be323c6e4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7fc18b63_8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b97fc18b63_8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97fc18b63_2_87:notes"/>
          <p:cNvSpPr txBox="1"/>
          <p:nvPr>
            <p:ph idx="1" type="body"/>
          </p:nvPr>
        </p:nvSpPr>
        <p:spPr>
          <a:xfrm>
            <a:off x="685801" y="4343409"/>
            <a:ext cx="5486400" cy="41148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97fc18b63_2_87:notes"/>
          <p:cNvSpPr/>
          <p:nvPr>
            <p:ph idx="2" type="sldImg"/>
          </p:nvPr>
        </p:nvSpPr>
        <p:spPr>
          <a:xfrm>
            <a:off x="1893299" y="685965"/>
            <a:ext cx="3071401" cy="342982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8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8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8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">
  <p:cSld name="Star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97fc18b63_2_82"/>
          <p:cNvSpPr txBox="1"/>
          <p:nvPr>
            <p:ph type="title"/>
          </p:nvPr>
        </p:nvSpPr>
        <p:spPr>
          <a:xfrm>
            <a:off x="319090" y="745751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b97fc18b63_2_82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b97fc18b63_2_82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sp>
        <p:nvSpPr>
          <p:cNvPr id="59" name="Google Shape;59;g3b97fc18b63_2_82"/>
          <p:cNvSpPr txBox="1"/>
          <p:nvPr>
            <p:ph idx="11" type="ftr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">
  <p:cSld name="Star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97fc18b63_7_5"/>
          <p:cNvSpPr txBox="1"/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g3b97fc18b63_7_5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3b97fc18b63_7_5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b97fc18b63_7_5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sp>
        <p:nvSpPr>
          <p:cNvPr id="70" name="Google Shape;70;g3b97fc18b63_7_5"/>
          <p:cNvSpPr txBox="1"/>
          <p:nvPr>
            <p:ph idx="11" type="ftr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">
  <p:cSld name="Star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97fc18b63_7_25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b97fc18b63_7_25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b97fc18b63_7_25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b97fc18b63_7_25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sp>
        <p:nvSpPr>
          <p:cNvPr id="81" name="Google Shape;81;g3b97fc18b63_7_25"/>
          <p:cNvSpPr txBox="1"/>
          <p:nvPr>
            <p:ph idx="11" type="ftr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jp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2.xml"/><Relationship Id="rId4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7fc18b63_2_76"/>
          <p:cNvSpPr txBox="1"/>
          <p:nvPr/>
        </p:nvSpPr>
        <p:spPr>
          <a:xfrm>
            <a:off x="7713330" y="4922462"/>
            <a:ext cx="1115376" cy="1447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t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ahnen_HG.jpg" id="52" name="Google Shape;52;g3b97fc18b63_2_7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42525" y="-153500"/>
            <a:ext cx="9294851" cy="5297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150416 tum logo blau png final.png" id="53" name="Google Shape;53;g3b97fc18b63_2_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2627" y="243488"/>
            <a:ext cx="449791" cy="2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b97fc18b63_2_76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97fc18b63_7_0"/>
          <p:cNvSpPr txBox="1"/>
          <p:nvPr>
            <p:ph idx="11" type="ftr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b97fc18b63_7_0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descr="20150416 tum logo blau png final.png" id="63" name="Google Shape;63;g3b97fc18b63_7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18800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3b97fc18b63_7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2534" y="4515112"/>
            <a:ext cx="914400" cy="266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97fc18b63_7_19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sp>
        <p:nvSpPr>
          <p:cNvPr id="73" name="Google Shape;73;g3b97fc18b63_7_19"/>
          <p:cNvSpPr txBox="1"/>
          <p:nvPr>
            <p:ph idx="11" type="ftr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20150416 tum logo blau png final.png" id="74" name="Google Shape;74;g3b97fc18b63_7_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b97fc18b63_7_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12534" y="4515112"/>
            <a:ext cx="914400" cy="266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jp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hyperlink" Target="http://drive.google.com/file/d/1e7-aZ9IM5CvkzZH0iMtpmTvVteIEhliF/view" TargetMode="External"/><Relationship Id="rId6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M_Glockenturm.tif" id="87" name="Google Shape;87;g3b97fc18b63_7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3814" y="1746675"/>
            <a:ext cx="3150593" cy="274988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b97fc18b63_7_11"/>
          <p:cNvSpPr txBox="1"/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tr"/>
              <a:t>Enhancing Customer Service Through </a:t>
            </a:r>
            <a:br>
              <a:rPr lang="tr"/>
            </a:br>
            <a:r>
              <a:rPr i="1" lang="tr"/>
              <a:t>LLM-Powered Email Drafting: An E.ON Data and Analytics Use Case</a:t>
            </a:r>
            <a:br>
              <a:rPr lang="tr"/>
            </a:br>
            <a:endParaRPr/>
          </a:p>
        </p:txBody>
      </p:sp>
      <p:sp>
        <p:nvSpPr>
          <p:cNvPr id="89" name="Google Shape;89;g3b97fc18b63_7_11"/>
          <p:cNvSpPr txBox="1"/>
          <p:nvPr>
            <p:ph idx="1" type="body"/>
          </p:nvPr>
        </p:nvSpPr>
        <p:spPr>
          <a:xfrm>
            <a:off x="317490" y="2523649"/>
            <a:ext cx="85089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Aslıhan Berber, Mohammed Yazan Aljleilati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Data Analytics in Applications WS 25/26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January 30,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97fc18b63_7_31"/>
          <p:cNvSpPr txBox="1"/>
          <p:nvPr>
            <p:ph type="title"/>
          </p:nvPr>
        </p:nvSpPr>
        <p:spPr>
          <a:xfrm>
            <a:off x="317540" y="312825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Table of Contents</a:t>
            </a:r>
            <a:endParaRPr/>
          </a:p>
        </p:txBody>
      </p:sp>
      <p:sp>
        <p:nvSpPr>
          <p:cNvPr id="95" name="Google Shape;95;g3b97fc18b63_7_31"/>
          <p:cNvSpPr txBox="1"/>
          <p:nvPr>
            <p:ph idx="1" type="body"/>
          </p:nvPr>
        </p:nvSpPr>
        <p:spPr>
          <a:xfrm>
            <a:off x="319100" y="1280375"/>
            <a:ext cx="5935800" cy="3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tr" sz="1500"/>
              <a:t>Introduction </a:t>
            </a:r>
            <a:endParaRPr sz="1300">
              <a:solidFill>
                <a:srgbClr val="9900FF"/>
              </a:solidFill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tr" sz="1500"/>
              <a:t>Dataset Overview &amp; Preparation</a:t>
            </a:r>
            <a:endParaRPr sz="13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tr" sz="1500"/>
              <a:t>Topic Detection, Clustering &amp; Labeling</a:t>
            </a:r>
            <a:endParaRPr sz="13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tr" sz="1500"/>
              <a:t>Implementation &amp; Modeling</a:t>
            </a:r>
            <a:endParaRPr sz="1300">
              <a:solidFill>
                <a:srgbClr val="9900FF"/>
              </a:solidFill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tr" sz="1500"/>
              <a:t>Validation: Lexical Diversity &amp; Semantic Variety Check</a:t>
            </a:r>
            <a:endParaRPr sz="13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tr" sz="1500"/>
              <a:t>Hallucination</a:t>
            </a:r>
            <a:r>
              <a:rPr lang="tr" sz="1500"/>
              <a:t> Check</a:t>
            </a:r>
            <a:endParaRPr sz="15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tr" sz="1500"/>
              <a:t>Streamlit </a:t>
            </a:r>
            <a:r>
              <a:rPr lang="tr" sz="1500"/>
              <a:t>Web App</a:t>
            </a:r>
            <a:endParaRPr sz="15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tr" sz="1500"/>
              <a:t>Limitations &amp; Future Outlook </a:t>
            </a:r>
            <a:endParaRPr sz="1500"/>
          </a:p>
        </p:txBody>
      </p:sp>
      <p:pic>
        <p:nvPicPr>
          <p:cNvPr descr="TUM_Glockenturm.tif" id="96" name="Google Shape;96;g3b97fc18b63_7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9739" y="1094963"/>
            <a:ext cx="3150593" cy="274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97fc18b63_0_6"/>
          <p:cNvSpPr txBox="1"/>
          <p:nvPr>
            <p:ph type="title"/>
          </p:nvPr>
        </p:nvSpPr>
        <p:spPr>
          <a:xfrm>
            <a:off x="311700" y="16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020"/>
              <a:t>Introduction</a:t>
            </a:r>
            <a:endParaRPr sz="2020"/>
          </a:p>
        </p:txBody>
      </p:sp>
      <p:sp>
        <p:nvSpPr>
          <p:cNvPr id="102" name="Google Shape;102;g3b97fc18b63_0_6"/>
          <p:cNvSpPr txBox="1"/>
          <p:nvPr>
            <p:ph idx="1" type="body"/>
          </p:nvPr>
        </p:nvSpPr>
        <p:spPr>
          <a:xfrm>
            <a:off x="146175" y="873725"/>
            <a:ext cx="4260300" cy="16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4800" u="sng">
                <a:solidFill>
                  <a:schemeClr val="dk1"/>
                </a:solidFill>
              </a:rPr>
              <a:t>Context &amp; Problem</a:t>
            </a:r>
            <a:endParaRPr b="1" sz="4800" u="sng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High volume of customer emails at E.ON</a:t>
            </a:r>
            <a:br>
              <a:rPr lang="tr" sz="4800">
                <a:solidFill>
                  <a:schemeClr val="dk1"/>
                </a:solidFill>
              </a:rPr>
            </a:b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Repetitive topics: billing, contracts, meter readings</a:t>
            </a:r>
            <a:br>
              <a:rPr lang="tr" sz="4800">
                <a:solidFill>
                  <a:schemeClr val="dk1"/>
                </a:solidFill>
              </a:rPr>
            </a:b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Email handling is a major operational overhead</a:t>
            </a:r>
            <a:br>
              <a:rPr lang="tr" sz="4800">
                <a:solidFill>
                  <a:schemeClr val="dk1"/>
                </a:solidFill>
              </a:rPr>
            </a:br>
            <a:r>
              <a:rPr lang="tr" sz="4800">
                <a:solidFill>
                  <a:schemeClr val="dk1"/>
                </a:solidFill>
              </a:rPr>
              <a:t> </a:t>
            </a:r>
            <a:r>
              <a:rPr i="1" lang="tr" sz="4800">
                <a:solidFill>
                  <a:schemeClr val="dk1"/>
                </a:solidFill>
              </a:rPr>
              <a:t>(Thiergart et al., 2021)</a:t>
            </a:r>
            <a:endParaRPr i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97fc18b63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04" name="Google Shape;104;g3b97fc18b63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b97fc18b63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975" y="4294825"/>
            <a:ext cx="11811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b97fc18b63_0_6"/>
          <p:cNvSpPr txBox="1"/>
          <p:nvPr>
            <p:ph idx="1" type="body"/>
          </p:nvPr>
        </p:nvSpPr>
        <p:spPr>
          <a:xfrm>
            <a:off x="222575" y="2652325"/>
            <a:ext cx="4466100" cy="24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4850" u="sng">
                <a:solidFill>
                  <a:schemeClr val="dk1"/>
                </a:solidFill>
              </a:rPr>
              <a:t>Why LLMs</a:t>
            </a:r>
            <a:endParaRPr b="1" sz="4850" u="sng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50">
                <a:solidFill>
                  <a:schemeClr val="dk1"/>
                </a:solidFill>
              </a:rPr>
              <a:t>LLMs enable instruction-following &amp; fluent text generation</a:t>
            </a:r>
            <a:br>
              <a:rPr lang="tr" sz="4850">
                <a:solidFill>
                  <a:schemeClr val="dk1"/>
                </a:solidFill>
              </a:rPr>
            </a:br>
            <a:r>
              <a:rPr lang="tr" sz="4850">
                <a:solidFill>
                  <a:schemeClr val="dk1"/>
                </a:solidFill>
              </a:rPr>
              <a:t> </a:t>
            </a:r>
            <a:r>
              <a:rPr i="1" lang="tr" sz="4850">
                <a:solidFill>
                  <a:schemeClr val="dk1"/>
                </a:solidFill>
              </a:rPr>
              <a:t>(Cai et al., 2025)</a:t>
            </a:r>
            <a:br>
              <a:rPr i="1" lang="tr" sz="4850">
                <a:solidFill>
                  <a:schemeClr val="dk1"/>
                </a:solidFill>
              </a:rPr>
            </a:br>
            <a:endParaRPr i="1"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50">
                <a:solidFill>
                  <a:schemeClr val="dk1"/>
                </a:solidFill>
              </a:rPr>
              <a:t>Proven effective as drafting assistants in customer service</a:t>
            </a:r>
            <a:br>
              <a:rPr lang="tr" sz="4850">
                <a:solidFill>
                  <a:schemeClr val="dk1"/>
                </a:solidFill>
              </a:rPr>
            </a:br>
            <a:r>
              <a:rPr lang="tr" sz="4850">
                <a:solidFill>
                  <a:schemeClr val="dk1"/>
                </a:solidFill>
              </a:rPr>
              <a:t> </a:t>
            </a:r>
            <a:r>
              <a:rPr i="1" lang="tr" sz="4850">
                <a:solidFill>
                  <a:schemeClr val="dk1"/>
                </a:solidFill>
              </a:rPr>
              <a:t>(Thiergart et al., 2021; Wulf &amp; Meierhofer, 2023)</a:t>
            </a:r>
            <a:br>
              <a:rPr i="1" lang="tr" sz="4850">
                <a:solidFill>
                  <a:schemeClr val="dk1"/>
                </a:solidFill>
              </a:rPr>
            </a:br>
            <a:endParaRPr i="1"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50">
                <a:solidFill>
                  <a:schemeClr val="dk1"/>
                </a:solidFill>
              </a:rPr>
              <a:t>Successful real-world deployments in knowledge work</a:t>
            </a:r>
            <a:br>
              <a:rPr lang="tr" sz="4850">
                <a:solidFill>
                  <a:schemeClr val="dk1"/>
                </a:solidFill>
              </a:rPr>
            </a:br>
            <a:r>
              <a:rPr lang="tr" sz="4850">
                <a:solidFill>
                  <a:schemeClr val="dk1"/>
                </a:solidFill>
              </a:rPr>
              <a:t> </a:t>
            </a:r>
            <a:r>
              <a:rPr i="1" lang="tr" sz="4850">
                <a:solidFill>
                  <a:schemeClr val="dk1"/>
                </a:solidFill>
              </a:rPr>
              <a:t>(Ünlü, 2023)</a:t>
            </a:r>
            <a:endParaRPr i="1" sz="4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97fc18b63_0_6"/>
          <p:cNvSpPr/>
          <p:nvPr/>
        </p:nvSpPr>
        <p:spPr>
          <a:xfrm>
            <a:off x="4179550" y="2222500"/>
            <a:ext cx="903900" cy="5727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97fc18b63_0_6"/>
          <p:cNvSpPr txBox="1"/>
          <p:nvPr>
            <p:ph idx="1" type="body"/>
          </p:nvPr>
        </p:nvSpPr>
        <p:spPr>
          <a:xfrm>
            <a:off x="5365700" y="873725"/>
            <a:ext cx="3543000" cy="31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4800" u="sng">
                <a:solidFill>
                  <a:schemeClr val="dk1"/>
                </a:solidFill>
              </a:rPr>
              <a:t>Our Approach</a:t>
            </a:r>
            <a:endParaRPr b="1" sz="4800" u="sng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End-to-end, human-in-the-loop drafting system</a:t>
            </a:r>
            <a:br>
              <a:rPr lang="tr" sz="4800">
                <a:solidFill>
                  <a:schemeClr val="dk1"/>
                </a:solidFill>
              </a:rPr>
            </a:br>
            <a:r>
              <a:rPr lang="tr" sz="4800">
                <a:solidFill>
                  <a:schemeClr val="dk1"/>
                </a:solidFill>
              </a:rPr>
              <a:t> </a:t>
            </a:r>
            <a:r>
              <a:rPr i="1" lang="tr" sz="4800">
                <a:solidFill>
                  <a:schemeClr val="dk1"/>
                </a:solidFill>
              </a:rPr>
              <a:t>(BCG, 2023; Costa &amp; Ghosh, 2025)</a:t>
            </a:r>
            <a:endParaRPr i="1"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t/>
            </a:r>
            <a:endParaRPr i="1" sz="48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Created synthetic response pairs to input data 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Formal &amp; friendly draft replies for agent support;</a:t>
            </a:r>
            <a:br>
              <a:rPr lang="tr" sz="4800">
                <a:solidFill>
                  <a:schemeClr val="dk1"/>
                </a:solidFill>
              </a:rPr>
            </a:br>
            <a:r>
              <a:rPr lang="tr" sz="4800">
                <a:solidFill>
                  <a:schemeClr val="dk1"/>
                </a:solidFill>
              </a:rPr>
              <a:t>used TinyLama; a </a:t>
            </a:r>
            <a:r>
              <a:rPr b="1" lang="tr" sz="4800">
                <a:solidFill>
                  <a:schemeClr val="dk1"/>
                </a:solidFill>
              </a:rPr>
              <a:t>compact open-source LLM</a:t>
            </a:r>
            <a:r>
              <a:rPr lang="tr" sz="4800">
                <a:solidFill>
                  <a:schemeClr val="dk1"/>
                </a:solidFill>
              </a:rPr>
              <a:t> under realistic constraints</a:t>
            </a:r>
            <a:br>
              <a:rPr lang="tr" sz="4800">
                <a:solidFill>
                  <a:schemeClr val="dk1"/>
                </a:solidFill>
              </a:rPr>
            </a:b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Combined topic detection, summarization, and response generation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t/>
            </a:r>
            <a:endParaRPr sz="48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800">
                <a:solidFill>
                  <a:schemeClr val="dk1"/>
                </a:solidFill>
              </a:rPr>
              <a:t>Generated formal &amp; friendly draft replies for customer agents</a:t>
            </a:r>
            <a:br>
              <a:rPr lang="tr" sz="4800">
                <a:solidFill>
                  <a:schemeClr val="dk1"/>
                </a:solidFill>
              </a:rPr>
            </a:b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i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fc59eb6fe_0_6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Dataset Overview &amp; Data </a:t>
            </a:r>
            <a:r>
              <a:rPr lang="tr" sz="2000"/>
              <a:t>Preparation</a:t>
            </a:r>
            <a:endParaRPr sz="2000"/>
          </a:p>
        </p:txBody>
      </p:sp>
      <p:sp>
        <p:nvSpPr>
          <p:cNvPr id="114" name="Google Shape;114;g3bfc59eb6fe_0_6"/>
          <p:cNvSpPr txBox="1"/>
          <p:nvPr>
            <p:ph idx="1" type="body"/>
          </p:nvPr>
        </p:nvSpPr>
        <p:spPr>
          <a:xfrm>
            <a:off x="311700" y="631825"/>
            <a:ext cx="8633100" cy="4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700">
                <a:solidFill>
                  <a:schemeClr val="dk1"/>
                </a:solidFill>
              </a:rPr>
              <a:t>Converted to JSON Lines  </a:t>
            </a:r>
            <a:endParaRPr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700">
                <a:solidFill>
                  <a:schemeClr val="dk1"/>
                </a:solidFill>
              </a:rPr>
              <a:t>No heavy preprocessing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15" name="Google Shape;115;g3bfc59eb6fe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bfc59eb6fe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17" name="Google Shape;117;g3bfc59eb6fe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900" y="4294825"/>
            <a:ext cx="11811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bfc59eb6fe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3075" y="2231400"/>
            <a:ext cx="4681725" cy="17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bfc59eb6fe_0_6"/>
          <p:cNvSpPr txBox="1"/>
          <p:nvPr/>
        </p:nvSpPr>
        <p:spPr>
          <a:xfrm>
            <a:off x="311700" y="965050"/>
            <a:ext cx="4421400" cy="15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700">
                <a:solidFill>
                  <a:schemeClr val="dk1"/>
                </a:solidFill>
              </a:rPr>
              <a:t>161 anonymized customer emails</a:t>
            </a:r>
            <a:endParaRPr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700">
                <a:solidFill>
                  <a:schemeClr val="dk1"/>
                </a:solidFill>
              </a:rPr>
              <a:t>Personal information was removed or replaced</a:t>
            </a:r>
            <a:endParaRPr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700">
                <a:solidFill>
                  <a:schemeClr val="dk1"/>
                </a:solidFill>
              </a:rPr>
              <a:t>Each Email-file contains one complete customer inquiry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fc59eb6fe_0_24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2000"/>
              <a:t>Topic Detection, Clustering &amp; Labeling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00"/>
          </a:p>
        </p:txBody>
      </p:sp>
      <p:sp>
        <p:nvSpPr>
          <p:cNvPr id="125" name="Google Shape;125;g3bfc59eb6fe_0_24"/>
          <p:cNvSpPr txBox="1"/>
          <p:nvPr>
            <p:ph idx="1" type="body"/>
          </p:nvPr>
        </p:nvSpPr>
        <p:spPr>
          <a:xfrm>
            <a:off x="311700" y="631825"/>
            <a:ext cx="8633100" cy="4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26" name="Google Shape;126;g3bfc59eb6f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bfc59eb6fe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28" name="Google Shape;128;g3bfc59eb6fe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900" y="4294825"/>
            <a:ext cx="11811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bfc59eb6fe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2950" y="759725"/>
            <a:ext cx="4178200" cy="313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fc59eb6fe_0_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767575"/>
            <a:ext cx="4035676" cy="9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fc59eb6fe_0_24"/>
          <p:cNvSpPr txBox="1"/>
          <p:nvPr/>
        </p:nvSpPr>
        <p:spPr>
          <a:xfrm>
            <a:off x="359350" y="934350"/>
            <a:ext cx="43839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tr" sz="1600">
                <a:solidFill>
                  <a:schemeClr val="dk1"/>
                </a:solidFill>
              </a:rPr>
              <a:t>BERTopic for semantic clustering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tr" sz="1600">
                <a:solidFill>
                  <a:schemeClr val="dk1"/>
                </a:solidFill>
              </a:rPr>
              <a:t>15 Clusters in total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tr" sz="1600">
                <a:solidFill>
                  <a:schemeClr val="dk1"/>
                </a:solidFill>
              </a:rPr>
              <a:t>Each email assigned to a topic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</a:rPr>
              <a:t>&amp; confidence interval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tr" sz="1600">
                <a:solidFill>
                  <a:schemeClr val="dk1"/>
                </a:solidFill>
              </a:rPr>
              <a:t>Manual refinement of topic labels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tr" sz="1600">
                <a:solidFill>
                  <a:schemeClr val="dk1"/>
                </a:solidFill>
              </a:rPr>
              <a:t>Main topics: payments, electricity supply, meter readings, contracts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d04727e8_0_0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Implementation: Base LLM Model Choice</a:t>
            </a:r>
            <a:endParaRPr sz="2000"/>
          </a:p>
        </p:txBody>
      </p:sp>
      <p:sp>
        <p:nvSpPr>
          <p:cNvPr id="137" name="Google Shape;137;g3b8d04727e8_0_0"/>
          <p:cNvSpPr txBox="1"/>
          <p:nvPr>
            <p:ph idx="1" type="body"/>
          </p:nvPr>
        </p:nvSpPr>
        <p:spPr>
          <a:xfrm>
            <a:off x="311700" y="859350"/>
            <a:ext cx="38934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chemeClr val="dk1"/>
                </a:solidFill>
              </a:rPr>
              <a:t>Why a Small Model &amp; Design Motivation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Realistic compute constraints (Google Colab)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No access to large proprietary models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Exploratory focus on </a:t>
            </a:r>
            <a:r>
              <a:rPr i="1" lang="tr" sz="1100">
                <a:solidFill>
                  <a:schemeClr val="dk1"/>
                </a:solidFill>
              </a:rPr>
              <a:t>practical feasibility</a:t>
            </a:r>
            <a:r>
              <a:rPr lang="tr" sz="1100">
                <a:solidFill>
                  <a:schemeClr val="dk1"/>
                </a:solidFill>
              </a:rPr>
              <a:t>, not raw scale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Interest in compact models for enterprise use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8" name="Google Shape;138;g3b8d04727e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8d04727e8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40" name="Google Shape;140;g3b8d04727e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975" y="4294825"/>
            <a:ext cx="11811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b8d04727e8_0_0"/>
          <p:cNvSpPr txBox="1"/>
          <p:nvPr>
            <p:ph idx="1" type="body"/>
          </p:nvPr>
        </p:nvSpPr>
        <p:spPr>
          <a:xfrm>
            <a:off x="4805500" y="859350"/>
            <a:ext cx="3893400" cy="3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chemeClr val="dk1"/>
                </a:solidFill>
              </a:rPr>
              <a:t>Chosen Model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TinyLlama (1.1B parameters)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Chat-aligned, instruction-following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B</a:t>
            </a:r>
            <a:r>
              <a:rPr lang="tr" sz="1100">
                <a:solidFill>
                  <a:schemeClr val="dk1"/>
                </a:solidFill>
              </a:rPr>
              <a:t>uilt on a modern transformer architecture and has been pre-trained to follow natural-language instructions and generate assistant-responses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Open-source &amp; lightweight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Libraries: PyTorch, Transformers, Peft, bitsandbytes, trl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g3b8d04727e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6750" y="2963725"/>
            <a:ext cx="2498750" cy="209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97fc18b63_8_30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Implementation: Fine Tuning Strategy (QLoRA)</a:t>
            </a:r>
            <a:endParaRPr sz="2000"/>
          </a:p>
        </p:txBody>
      </p:sp>
      <p:sp>
        <p:nvSpPr>
          <p:cNvPr id="148" name="Google Shape;148;g3b97fc18b63_8_30"/>
          <p:cNvSpPr txBox="1"/>
          <p:nvPr>
            <p:ph idx="1" type="body"/>
          </p:nvPr>
        </p:nvSpPr>
        <p:spPr>
          <a:xfrm>
            <a:off x="311700" y="1437775"/>
            <a:ext cx="37023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tr" sz="1500">
                <a:solidFill>
                  <a:schemeClr val="dk1"/>
                </a:solidFill>
              </a:rPr>
              <a:t>Training Approach</a:t>
            </a:r>
            <a:endParaRPr b="1" sz="1500">
              <a:solidFill>
                <a:schemeClr val="dk1"/>
              </a:solidFill>
            </a:endParaRPr>
          </a:p>
          <a:p>
            <a:pPr indent="-30956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500">
                <a:solidFill>
                  <a:schemeClr val="dk1"/>
                </a:solidFill>
              </a:rPr>
              <a:t>Supervised instruction fine-tuning using a parameter-efficient optimization strategy</a:t>
            </a:r>
            <a:br>
              <a:rPr lang="t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500">
                <a:solidFill>
                  <a:schemeClr val="dk1"/>
                </a:solidFill>
              </a:rPr>
              <a:t>Synthetic instruction-response pairs</a:t>
            </a:r>
            <a:br>
              <a:rPr lang="t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095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500">
                <a:solidFill>
                  <a:schemeClr val="dk1"/>
                </a:solidFill>
              </a:rPr>
              <a:t>Two outputs per email: </a:t>
            </a:r>
            <a:r>
              <a:rPr b="1" lang="tr" sz="1500">
                <a:solidFill>
                  <a:schemeClr val="dk1"/>
                </a:solidFill>
              </a:rPr>
              <a:t>formal &amp; friendly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9" name="Google Shape;149;g3b97fc18b63_8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b97fc18b63_8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51" name="Google Shape;151;g3b97fc18b63_8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975" y="4294825"/>
            <a:ext cx="11811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b97fc18b63_8_30"/>
          <p:cNvSpPr txBox="1"/>
          <p:nvPr>
            <p:ph idx="1" type="body"/>
          </p:nvPr>
        </p:nvSpPr>
        <p:spPr>
          <a:xfrm>
            <a:off x="4661125" y="1437775"/>
            <a:ext cx="3872700" cy="28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dk1"/>
                </a:solidFill>
              </a:rPr>
              <a:t>Parameter-Efficient Optimization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tr" sz="1200">
                <a:solidFill>
                  <a:schemeClr val="dk1"/>
                </a:solidFill>
              </a:rPr>
              <a:t>LoRA adapters introduces a small number of trainable parameters into selected transformer layers while keeping the base model frozen</a:t>
            </a:r>
            <a:br>
              <a:rPr lang="tr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tr" sz="1200">
                <a:solidFill>
                  <a:schemeClr val="dk1"/>
                </a:solidFill>
              </a:rPr>
              <a:t>4-bit quantization</a:t>
            </a:r>
            <a:br>
              <a:rPr lang="tr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tr" sz="1200">
                <a:solidFill>
                  <a:schemeClr val="dk1"/>
                </a:solidFill>
              </a:rPr>
              <a:t>QLoRA</a:t>
            </a:r>
            <a:r>
              <a:rPr lang="tr" sz="1200">
                <a:solidFill>
                  <a:schemeClr val="dk1"/>
                </a:solidFill>
              </a:rPr>
              <a:t> for low-memory fine-tuning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3" name="Google Shape;153;g3b97fc18b63_8_30" title="adjustment_154009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3025" y="3621750"/>
            <a:ext cx="1361626" cy="136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e323c6e44_0_47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Implementation: Instruction Design &amp; Tone Control</a:t>
            </a:r>
            <a:endParaRPr sz="2000"/>
          </a:p>
        </p:txBody>
      </p:sp>
      <p:sp>
        <p:nvSpPr>
          <p:cNvPr id="159" name="Google Shape;159;g3be323c6e44_0_47"/>
          <p:cNvSpPr txBox="1"/>
          <p:nvPr>
            <p:ph idx="1" type="body"/>
          </p:nvPr>
        </p:nvSpPr>
        <p:spPr>
          <a:xfrm>
            <a:off x="120725" y="1521750"/>
            <a:ext cx="33333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tr" sz="4850">
                <a:solidFill>
                  <a:schemeClr val="dk1"/>
                </a:solidFill>
              </a:rPr>
              <a:t>Explicit role definition: E.ON customer service assistant</a:t>
            </a:r>
            <a:br>
              <a:rPr b="1" lang="tr" sz="4850">
                <a:solidFill>
                  <a:schemeClr val="dk1"/>
                </a:solidFill>
              </a:rPr>
            </a:br>
            <a:endParaRPr b="1"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tr" sz="4850">
                <a:solidFill>
                  <a:schemeClr val="dk1"/>
                </a:solidFill>
              </a:rPr>
              <a:t>Tone specified directly in the instruction</a:t>
            </a:r>
            <a:br>
              <a:rPr b="1" lang="tr" sz="4850">
                <a:solidFill>
                  <a:schemeClr val="dk1"/>
                </a:solidFill>
              </a:rPr>
            </a:br>
            <a:endParaRPr b="1" sz="4850">
              <a:solidFill>
                <a:schemeClr val="dk1"/>
              </a:solidFill>
            </a:endParaRPr>
          </a:p>
          <a:p>
            <a:pPr indent="-3055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tr" sz="4850">
                <a:solidFill>
                  <a:schemeClr val="dk1"/>
                </a:solidFill>
              </a:rPr>
              <a:t>Same input → different stylistic targets</a:t>
            </a:r>
            <a:endParaRPr b="1" sz="4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25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0" name="Google Shape;160;g3be323c6e44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be323c6e44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62" name="Google Shape;162;g3be323c6e44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975" y="4294825"/>
            <a:ext cx="11811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be323c6e44_0_47"/>
          <p:cNvSpPr txBox="1"/>
          <p:nvPr>
            <p:ph idx="1" type="body"/>
          </p:nvPr>
        </p:nvSpPr>
        <p:spPr>
          <a:xfrm>
            <a:off x="4661125" y="1437763"/>
            <a:ext cx="37023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4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4" name="Google Shape;164;g3be323c6e44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4024" y="1767632"/>
            <a:ext cx="5271674" cy="1440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97fc18b63_8_38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Implementation: Training Setup &amp; Evaluation</a:t>
            </a:r>
            <a:endParaRPr sz="2000"/>
          </a:p>
        </p:txBody>
      </p:sp>
      <p:sp>
        <p:nvSpPr>
          <p:cNvPr id="170" name="Google Shape;170;g3b97fc18b63_8_38"/>
          <p:cNvSpPr txBox="1"/>
          <p:nvPr>
            <p:ph idx="1" type="body"/>
          </p:nvPr>
        </p:nvSpPr>
        <p:spPr>
          <a:xfrm>
            <a:off x="255450" y="708475"/>
            <a:ext cx="27402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4550">
                <a:solidFill>
                  <a:schemeClr val="dk1"/>
                </a:solidFill>
              </a:rPr>
              <a:t>Training Setup</a:t>
            </a:r>
            <a:endParaRPr b="1" sz="4550">
              <a:solidFill>
                <a:schemeClr val="dk1"/>
              </a:solidFill>
            </a:endParaRPr>
          </a:p>
          <a:p>
            <a:pPr indent="-30083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550">
                <a:solidFill>
                  <a:schemeClr val="dk1"/>
                </a:solidFill>
              </a:rPr>
              <a:t>80 / 20 train-validation split</a:t>
            </a:r>
            <a:br>
              <a:rPr lang="tr" sz="4550">
                <a:solidFill>
                  <a:schemeClr val="dk1"/>
                </a:solidFill>
              </a:rPr>
            </a:br>
            <a:endParaRPr sz="4550">
              <a:solidFill>
                <a:schemeClr val="dk1"/>
              </a:solidFill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550">
                <a:solidFill>
                  <a:schemeClr val="dk1"/>
                </a:solidFill>
              </a:rPr>
              <a:t>600 update steps</a:t>
            </a:r>
            <a:br>
              <a:rPr lang="tr" sz="4550">
                <a:solidFill>
                  <a:schemeClr val="dk1"/>
                </a:solidFill>
              </a:rPr>
            </a:br>
            <a:endParaRPr sz="4550">
              <a:solidFill>
                <a:schemeClr val="dk1"/>
              </a:solidFill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4550">
                <a:solidFill>
                  <a:schemeClr val="dk1"/>
                </a:solidFill>
              </a:rPr>
              <a:t>Gradient accumulation for stability</a:t>
            </a:r>
            <a:br>
              <a:rPr lang="tr" sz="4550">
                <a:solidFill>
                  <a:schemeClr val="dk1"/>
                </a:solidFill>
              </a:rPr>
            </a:br>
            <a:endParaRPr sz="4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1" name="Google Shape;171;g3b97fc18b63_8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b97fc18b63_8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73" name="Google Shape;173;g3b97fc18b63_8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g3b97fc18b63_8_38"/>
          <p:cNvGraphicFramePr/>
          <p:nvPr/>
        </p:nvGraphicFramePr>
        <p:xfrm>
          <a:off x="4393050" y="804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{FED97CA8-683E-4286-9753-C7F4AE4B7864}</a:tableStyleId>
              </a:tblPr>
              <a:tblGrid>
                <a:gridCol w="2193650"/>
                <a:gridCol w="2193650"/>
              </a:tblGrid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Evaluation Metrics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Value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Total Samples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322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Train/Validation split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257/65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Training Steps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600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Learning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2x10^-5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Effective Batch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Training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1.48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Evaluation/Validation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/>
                        <a:t>1.30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" name="Google Shape;175;g3b97fc18b63_8_38"/>
          <p:cNvSpPr txBox="1"/>
          <p:nvPr/>
        </p:nvSpPr>
        <p:spPr>
          <a:xfrm>
            <a:off x="255450" y="2272700"/>
            <a:ext cx="4137600" cy="2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</a:rPr>
              <a:t>A validation loss of </a:t>
            </a:r>
            <a:r>
              <a:rPr b="1" lang="tr" sz="1100">
                <a:solidFill>
                  <a:schemeClr val="dk1"/>
                </a:solidFill>
              </a:rPr>
              <a:t>≈ 1.30</a:t>
            </a:r>
            <a:r>
              <a:rPr lang="tr" sz="1100">
                <a:solidFill>
                  <a:schemeClr val="dk1"/>
                </a:solidFill>
              </a:rPr>
              <a:t> means: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The model assigns relatively high probability to the correct next tokens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The generated outputs are </a:t>
            </a:r>
            <a:r>
              <a:rPr b="1" lang="tr" sz="1100">
                <a:solidFill>
                  <a:schemeClr val="dk1"/>
                </a:solidFill>
              </a:rPr>
              <a:t>coherent and well-conditioned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The model is </a:t>
            </a:r>
            <a:r>
              <a:rPr b="1" lang="tr" sz="1100">
                <a:solidFill>
                  <a:schemeClr val="dk1"/>
                </a:solidFill>
              </a:rPr>
              <a:t>not guessing randomly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The model is </a:t>
            </a:r>
            <a:r>
              <a:rPr b="1" lang="tr" sz="1100">
                <a:solidFill>
                  <a:schemeClr val="dk1"/>
                </a:solidFill>
              </a:rPr>
              <a:t>not memorizing training data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g3b97fc18b63_8_38"/>
          <p:cNvSpPr txBox="1"/>
          <p:nvPr/>
        </p:nvSpPr>
        <p:spPr>
          <a:xfrm>
            <a:off x="181925" y="4663375"/>
            <a:ext cx="704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chemeClr val="dk1"/>
                </a:solidFill>
              </a:rPr>
              <a:t>Validation loss &lt; training loss              The model generalized instead of memorizing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7" name="Google Shape;177;g3b97fc18b63_8_38"/>
          <p:cNvCxnSpPr/>
          <p:nvPr/>
        </p:nvCxnSpPr>
        <p:spPr>
          <a:xfrm>
            <a:off x="2209650" y="4860025"/>
            <a:ext cx="22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97fc18b63_8_46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Implementation: Inference and Safety Controls</a:t>
            </a:r>
            <a:endParaRPr sz="2000"/>
          </a:p>
        </p:txBody>
      </p:sp>
      <p:sp>
        <p:nvSpPr>
          <p:cNvPr id="183" name="Google Shape;183;g3b97fc18b63_8_46"/>
          <p:cNvSpPr txBox="1"/>
          <p:nvPr>
            <p:ph idx="1" type="body"/>
          </p:nvPr>
        </p:nvSpPr>
        <p:spPr>
          <a:xfrm>
            <a:off x="247213" y="1498275"/>
            <a:ext cx="29004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Inference Pipeline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Topic assignment using BERTopic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Rule-based short summary generation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Dual-tone response drafting (formal &amp; friendly)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4" name="Google Shape;184;g3b97fc18b63_8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1798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b97fc18b63_8_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86" name="Google Shape;186;g3b97fc18b63_8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b97fc18b63_8_46"/>
          <p:cNvSpPr txBox="1"/>
          <p:nvPr>
            <p:ph idx="1" type="body"/>
          </p:nvPr>
        </p:nvSpPr>
        <p:spPr>
          <a:xfrm>
            <a:off x="6139413" y="1376175"/>
            <a:ext cx="2643600" cy="1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Safety &amp; Compliance Controls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Explicit instruction- and rule-based prompting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No hallucinated numbers, dates, or contact details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Ask follow-up questions if information is missing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Human-in-the-loop review remains mandatory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g3b97fc18b63_8_46"/>
          <p:cNvSpPr txBox="1"/>
          <p:nvPr>
            <p:ph idx="1" type="body"/>
          </p:nvPr>
        </p:nvSpPr>
        <p:spPr>
          <a:xfrm>
            <a:off x="3264913" y="1437225"/>
            <a:ext cx="25107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Controlled Decoding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Deterministic decoding (beam search, 3 beams) -&gt; so that the same email always produces the same output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Repetition control to avoid redundant phrasing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Reproducible and conservative outputs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9" name="Google Shape;189;g3b97fc18b63_8_46" title="insurance-policy_142477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1925" y="87300"/>
            <a:ext cx="638600" cy="6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f9fbab68d_0_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95" name="Google Shape;195;g3bf9fbab68d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bf9fbab68d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bf9fbab68d_0_2"/>
          <p:cNvSpPr/>
          <p:nvPr/>
        </p:nvSpPr>
        <p:spPr>
          <a:xfrm>
            <a:off x="818500" y="783850"/>
            <a:ext cx="7269600" cy="4041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bf9fbab68d_0_2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Implementation: Inference and Safety Controls</a:t>
            </a:r>
            <a:endParaRPr sz="2000"/>
          </a:p>
        </p:txBody>
      </p:sp>
      <p:sp>
        <p:nvSpPr>
          <p:cNvPr id="199" name="Google Shape;199;g3bf9fbab68d_0_2"/>
          <p:cNvSpPr txBox="1"/>
          <p:nvPr>
            <p:ph idx="1" type="body"/>
          </p:nvPr>
        </p:nvSpPr>
        <p:spPr>
          <a:xfrm>
            <a:off x="871875" y="783850"/>
            <a:ext cx="7269600" cy="3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Char char="●"/>
            </a:pPr>
            <a:r>
              <a:rPr b="1" lang="tr" sz="870">
                <a:solidFill>
                  <a:schemeClr val="dk1"/>
                </a:solidFill>
              </a:rPr>
              <a:t>No Fact Invention</a:t>
            </a:r>
            <a:endParaRPr b="1" sz="87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i="1" lang="tr" sz="870">
                <a:solidFill>
                  <a:schemeClr val="dk1"/>
                </a:solidFill>
              </a:rPr>
              <a:t>If the customer email does not contain a contract number or amount, the model is explicitly instructed not to invent one.</a:t>
            </a:r>
            <a:endParaRPr i="1" sz="870">
              <a:solidFill>
                <a:schemeClr val="dk1"/>
              </a:solidFill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Char char="●"/>
            </a:pPr>
            <a:r>
              <a:rPr b="1" lang="tr" sz="870">
                <a:solidFill>
                  <a:schemeClr val="dk1"/>
                </a:solidFill>
              </a:rPr>
              <a:t>Exact Reuse of Numbers</a:t>
            </a:r>
            <a:endParaRPr b="1" sz="87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i="1" lang="tr" sz="870">
                <a:solidFill>
                  <a:schemeClr val="dk1"/>
                </a:solidFill>
              </a:rPr>
              <a:t>If the customer writes “103,22 €”, the model must reuse “103,22 €” exactly and is prohibited from rounding or modifying it.</a:t>
            </a:r>
            <a:endParaRPr i="1" sz="870">
              <a:solidFill>
                <a:schemeClr val="dk1"/>
              </a:solidFill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Char char="●"/>
            </a:pPr>
            <a:r>
              <a:rPr b="1" lang="tr" sz="870">
                <a:solidFill>
                  <a:schemeClr val="dk1"/>
                </a:solidFill>
              </a:rPr>
              <a:t>No Assumed Actions</a:t>
            </a:r>
            <a:endParaRPr b="1" sz="87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i="1" lang="tr" sz="870">
                <a:solidFill>
                  <a:schemeClr val="dk1"/>
                </a:solidFill>
              </a:rPr>
              <a:t>The model is forbidden from stating that a payment was completed unless the customer explicitly confirms it in the email.</a:t>
            </a:r>
            <a:endParaRPr i="1" sz="870">
              <a:solidFill>
                <a:schemeClr val="dk1"/>
              </a:solidFill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Char char="●"/>
            </a:pPr>
            <a:r>
              <a:rPr b="1" lang="tr" sz="870">
                <a:solidFill>
                  <a:schemeClr val="dk1"/>
                </a:solidFill>
              </a:rPr>
              <a:t>Missing Information Handling</a:t>
            </a:r>
            <a:endParaRPr b="1" sz="87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i="1" lang="tr" sz="870">
                <a:solidFill>
                  <a:schemeClr val="dk1"/>
                </a:solidFill>
              </a:rPr>
              <a:t>When required details are missing, the model must ask 2-4 concrete follow-up questions instead of guessing.</a:t>
            </a:r>
            <a:endParaRPr i="1" sz="870">
              <a:solidFill>
                <a:schemeClr val="dk1"/>
              </a:solidFill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Char char="●"/>
            </a:pPr>
            <a:r>
              <a:rPr b="1" lang="tr" sz="870">
                <a:solidFill>
                  <a:schemeClr val="dk1"/>
                </a:solidFill>
              </a:rPr>
              <a:t>No Invented Dates or Timelines</a:t>
            </a:r>
            <a:endParaRPr b="1" sz="87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i="1" lang="tr" sz="870">
                <a:solidFill>
                  <a:schemeClr val="dk1"/>
                </a:solidFill>
              </a:rPr>
              <a:t>Dates such as “am 22.02.2022” or “seit 2019” may only appear if they occur verbatim in the customer email.</a:t>
            </a:r>
            <a:endParaRPr i="1" sz="870">
              <a:solidFill>
                <a:schemeClr val="dk1"/>
              </a:solidFill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Char char="●"/>
            </a:pPr>
            <a:r>
              <a:rPr b="1" lang="tr" sz="870">
                <a:solidFill>
                  <a:schemeClr val="dk1"/>
                </a:solidFill>
              </a:rPr>
              <a:t>Deterministic Output</a:t>
            </a:r>
            <a:endParaRPr b="1" sz="87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i="1" lang="tr" sz="870">
                <a:solidFill>
                  <a:schemeClr val="dk1"/>
                </a:solidFill>
              </a:rPr>
              <a:t>The same customer email always produces the same response due to deterministic decoding without sampling.</a:t>
            </a:r>
            <a:endParaRPr i="1" sz="870">
              <a:solidFill>
                <a:schemeClr val="dk1"/>
              </a:solidFill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70"/>
              <a:buChar char="●"/>
            </a:pPr>
            <a:r>
              <a:rPr b="1" lang="tr" sz="870">
                <a:solidFill>
                  <a:schemeClr val="dk1"/>
                </a:solidFill>
              </a:rPr>
              <a:t>Signature Enforcement</a:t>
            </a:r>
            <a:endParaRPr b="1" sz="870">
              <a:solidFill>
                <a:schemeClr val="dk1"/>
              </a:solidFill>
            </a:endParaRPr>
          </a:p>
          <a:p>
            <a:pPr indent="0" lvl="0" marL="457200" marR="3810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i="1" lang="tr" sz="870">
                <a:solidFill>
                  <a:schemeClr val="dk1"/>
                </a:solidFill>
              </a:rPr>
              <a:t>If the model repeats or omits the closing, the system removes duplicates and enforces a single E.ON signature.</a:t>
            </a:r>
            <a:endParaRPr b="1" sz="870">
              <a:solidFill>
                <a:schemeClr val="dk1"/>
              </a:solidFill>
            </a:endParaRPr>
          </a:p>
        </p:txBody>
      </p:sp>
      <p:pic>
        <p:nvPicPr>
          <p:cNvPr id="200" name="Google Shape;200;g3bf9fbab68d_0_2" title="insurance-policy_142477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3425" y="3426100"/>
            <a:ext cx="929251" cy="92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97fc18b63_8_54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Validation: Lexical Diversity Check</a:t>
            </a:r>
            <a:endParaRPr sz="2000"/>
          </a:p>
        </p:txBody>
      </p:sp>
      <p:pic>
        <p:nvPicPr>
          <p:cNvPr id="206" name="Google Shape;206;g3b97fc18b63_8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b97fc18b63_8_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08" name="Google Shape;208;g3b97fc18b63_8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b97fc18b63_8_54"/>
          <p:cNvSpPr txBox="1"/>
          <p:nvPr/>
        </p:nvSpPr>
        <p:spPr>
          <a:xfrm>
            <a:off x="311700" y="732900"/>
            <a:ext cx="5703600" cy="4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Objective:</a:t>
            </a:r>
            <a:br>
              <a:rPr b="1" lang="tr" sz="1100">
                <a:solidFill>
                  <a:schemeClr val="dk1"/>
                </a:solidFill>
              </a:rPr>
            </a:br>
            <a:r>
              <a:rPr lang="tr" sz="1100">
                <a:solidFill>
                  <a:schemeClr val="dk1"/>
                </a:solidFill>
              </a:rPr>
              <a:t> Detect whether the model collapses into repetitive, template-like phrasing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Method:</a:t>
            </a:r>
            <a:r>
              <a:rPr lang="tr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tr" sz="1100">
                <a:solidFill>
                  <a:schemeClr val="dk1"/>
                </a:solidFill>
              </a:rPr>
              <a:t>Lexical entropy over generated responses</a:t>
            </a:r>
            <a:br>
              <a:rPr lang="tr" sz="1100">
                <a:solidFill>
                  <a:schemeClr val="dk1"/>
                </a:solidFill>
              </a:rPr>
            </a:br>
            <a:r>
              <a:rPr lang="tr" sz="1100">
                <a:solidFill>
                  <a:schemeClr val="dk1"/>
                </a:solidFill>
              </a:rPr>
              <a:t>Measures </a:t>
            </a:r>
            <a:r>
              <a:rPr b="1" lang="tr" sz="1100">
                <a:solidFill>
                  <a:schemeClr val="dk1"/>
                </a:solidFill>
              </a:rPr>
              <a:t>vocabulary diversity</a:t>
            </a:r>
            <a:br>
              <a:rPr b="1" lang="tr" sz="1100">
                <a:solidFill>
                  <a:schemeClr val="dk1"/>
                </a:solidFill>
              </a:rPr>
            </a:br>
            <a:r>
              <a:rPr lang="tr" sz="1100">
                <a:solidFill>
                  <a:schemeClr val="dk1"/>
                </a:solidFill>
              </a:rPr>
              <a:t>Penalizes repeated or formulaic wording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Input data (</a:t>
            </a:r>
            <a:r>
              <a:rPr b="1" lang="tr" sz="1100">
                <a:solidFill>
                  <a:schemeClr val="dk1"/>
                </a:solidFill>
              </a:rPr>
              <a:t>unseen emails, </a:t>
            </a:r>
            <a:r>
              <a:rPr b="1" lang="tr" sz="1100">
                <a:solidFill>
                  <a:schemeClr val="dk1"/>
                </a:solidFill>
              </a:rPr>
              <a:t>n=10):</a:t>
            </a:r>
            <a:br>
              <a:rPr b="1" lang="tr" sz="1100">
                <a:solidFill>
                  <a:schemeClr val="dk1"/>
                </a:solidFill>
              </a:rPr>
            </a:br>
            <a:r>
              <a:rPr lang="tr" sz="1100">
                <a:solidFill>
                  <a:schemeClr val="dk1"/>
                </a:solidFill>
              </a:rPr>
              <a:t>All generated outputs (</a:t>
            </a:r>
            <a:r>
              <a:rPr b="1" lang="tr" sz="1100">
                <a:solidFill>
                  <a:schemeClr val="dk1"/>
                </a:solidFill>
              </a:rPr>
              <a:t>formal + friendly combined</a:t>
            </a:r>
            <a:r>
              <a:rPr lang="tr" sz="1100">
                <a:solidFill>
                  <a:schemeClr val="dk1"/>
                </a:solidFill>
              </a:rPr>
              <a:t>)</a:t>
            </a:r>
            <a:br>
              <a:rPr lang="tr" sz="1100">
                <a:solidFill>
                  <a:schemeClr val="dk1"/>
                </a:solidFill>
              </a:rPr>
            </a:br>
            <a:r>
              <a:rPr lang="tr" sz="1100">
                <a:solidFill>
                  <a:schemeClr val="dk1"/>
                </a:solidFill>
              </a:rPr>
              <a:t>Text normalized (lowercasing, whitespace cleanup)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Implementation details: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Tokenize responses into word tokens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Compute token frequency distribution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Calculate entropy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Results: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Mean entropy = </a:t>
            </a:r>
            <a:r>
              <a:rPr b="1" lang="tr" sz="1100">
                <a:solidFill>
                  <a:schemeClr val="dk1"/>
                </a:solidFill>
              </a:rPr>
              <a:t>3.49 -&gt; good diversity for emailing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Standard deviation = </a:t>
            </a:r>
            <a:r>
              <a:rPr b="1" lang="tr" sz="1100">
                <a:solidFill>
                  <a:schemeClr val="dk1"/>
                </a:solidFill>
              </a:rPr>
              <a:t>0.15 -&gt; stable behavior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No low-entropy collapse observed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10" name="Google Shape;210;g3b97fc18b63_8_54" title="lexic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8300" y="980241"/>
            <a:ext cx="3573250" cy="293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b97fc18b63_8_54"/>
          <p:cNvSpPr txBox="1"/>
          <p:nvPr/>
        </p:nvSpPr>
        <p:spPr>
          <a:xfrm>
            <a:off x="4510600" y="4342875"/>
            <a:ext cx="34503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tr" sz="1100">
                <a:solidFill>
                  <a:schemeClr val="dk1"/>
                </a:solidFill>
                <a:highlight>
                  <a:srgbClr val="FFFF00"/>
                </a:highlight>
              </a:rPr>
              <a:t> Responses showed </a:t>
            </a:r>
            <a:r>
              <a:rPr b="1" lang="tr" sz="1100">
                <a:solidFill>
                  <a:schemeClr val="dk1"/>
                </a:solidFill>
                <a:highlight>
                  <a:srgbClr val="FFFF00"/>
                </a:highlight>
              </a:rPr>
              <a:t>controlled linguistic variation</a:t>
            </a:r>
            <a:r>
              <a:rPr lang="tr" sz="1100">
                <a:solidFill>
                  <a:schemeClr val="dk1"/>
                </a:solidFill>
                <a:highlight>
                  <a:srgbClr val="FFFF00"/>
                </a:highlight>
              </a:rPr>
              <a:t>, not copy-paste templates</a:t>
            </a:r>
            <a:endParaRPr sz="1800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  <p:pic>
        <p:nvPicPr>
          <p:cNvPr id="212" name="Google Shape;212;g3b97fc18b63_8_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400" y="114213"/>
            <a:ext cx="789300" cy="7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f9fbab68d_0_23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Validation: Semantic Variety Check</a:t>
            </a:r>
            <a:endParaRPr sz="2000"/>
          </a:p>
        </p:txBody>
      </p:sp>
      <p:pic>
        <p:nvPicPr>
          <p:cNvPr id="218" name="Google Shape;218;g3bf9fbab68d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bf9fbab68d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20" name="Google Shape;220;g3bf9fbab68d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bf9fbab68d_0_23"/>
          <p:cNvSpPr txBox="1"/>
          <p:nvPr/>
        </p:nvSpPr>
        <p:spPr>
          <a:xfrm>
            <a:off x="296500" y="720175"/>
            <a:ext cx="4736100" cy="4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Objective:</a:t>
            </a:r>
            <a:br>
              <a:rPr b="1" lang="tr" sz="1100">
                <a:solidFill>
                  <a:schemeClr val="dk1"/>
                </a:solidFill>
              </a:rPr>
            </a:br>
            <a:r>
              <a:rPr lang="tr" sz="1100">
                <a:solidFill>
                  <a:schemeClr val="dk1"/>
                </a:solidFill>
              </a:rPr>
              <a:t> Ensure responses vary in phrasing </a:t>
            </a:r>
            <a:r>
              <a:rPr b="1" lang="tr" sz="1100">
                <a:solidFill>
                  <a:schemeClr val="dk1"/>
                </a:solidFill>
              </a:rPr>
              <a:t>without drifting in meaning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Problem addressed:</a:t>
            </a:r>
            <a:br>
              <a:rPr b="1" lang="tr" sz="1100">
                <a:solidFill>
                  <a:schemeClr val="dk1"/>
                </a:solidFill>
              </a:rPr>
            </a:br>
            <a:r>
              <a:rPr lang="tr" sz="1100">
                <a:solidFill>
                  <a:schemeClr val="dk1"/>
                </a:solidFill>
              </a:rPr>
              <a:t> Lexical variation alone can hide semantic inconsistency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Embedding model used: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all-MiniLM-L6-v2</a:t>
            </a:r>
            <a:r>
              <a:rPr lang="tr" sz="1100">
                <a:solidFill>
                  <a:schemeClr val="dk1"/>
                </a:solidFill>
              </a:rPr>
              <a:t> (Sentence-Transformers)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Lightweight, fast, suitable for short texts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Implementation details: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Encode each generated response into sentence embeddings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Compute </a:t>
            </a:r>
            <a:r>
              <a:rPr b="1" lang="tr" sz="1100">
                <a:solidFill>
                  <a:schemeClr val="dk1"/>
                </a:solidFill>
              </a:rPr>
              <a:t>pairwise cosine similarity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Exclude self-similarity (diagonal removed)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Results: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Mean cosine similarity = </a:t>
            </a:r>
            <a:r>
              <a:rPr b="1" lang="tr" sz="1100">
                <a:solidFill>
                  <a:schemeClr val="dk1"/>
                </a:solidFill>
              </a:rPr>
              <a:t>0.62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Standard deviation = </a:t>
            </a:r>
            <a:r>
              <a:rPr b="1" lang="tr" sz="1100">
                <a:solidFill>
                  <a:schemeClr val="dk1"/>
                </a:solidFill>
              </a:rPr>
              <a:t>0.11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Majority of pairs fall in mid-to-high similarity range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2" name="Google Shape;222;g3bf9fbab68d_0_23"/>
          <p:cNvSpPr txBox="1"/>
          <p:nvPr/>
        </p:nvSpPr>
        <p:spPr>
          <a:xfrm>
            <a:off x="4841600" y="4055825"/>
            <a:ext cx="37812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tr" sz="1100">
                <a:solidFill>
                  <a:schemeClr val="dk1"/>
                </a:solidFill>
                <a:highlight>
                  <a:srgbClr val="FFFF00"/>
                </a:highlight>
              </a:rPr>
              <a:t>Responses remain </a:t>
            </a:r>
            <a:r>
              <a:rPr b="1" lang="tr" sz="1100">
                <a:solidFill>
                  <a:schemeClr val="dk1"/>
                </a:solidFill>
                <a:highlight>
                  <a:srgbClr val="FFFF00"/>
                </a:highlight>
              </a:rPr>
              <a:t>semantically aligned</a:t>
            </a:r>
            <a:endParaRPr b="1"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tr" sz="1100">
                <a:solidFill>
                  <a:schemeClr val="dk1"/>
                </a:solidFill>
                <a:highlight>
                  <a:srgbClr val="FFFF00"/>
                </a:highlight>
              </a:rPr>
              <a:t>Still, allows phrasing and structural variation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pic>
        <p:nvPicPr>
          <p:cNvPr id="223" name="Google Shape;223;g3bf9fbab68d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5400" y="114213"/>
            <a:ext cx="789300" cy="7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bf9fbab68d_0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5000" y="1170119"/>
            <a:ext cx="3376083" cy="2733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e323c6e44_0_9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Hallucination Check: Factual Grounding Validation</a:t>
            </a:r>
            <a:endParaRPr sz="2000"/>
          </a:p>
        </p:txBody>
      </p:sp>
      <p:sp>
        <p:nvSpPr>
          <p:cNvPr id="230" name="Google Shape;230;g3be323c6e44_0_9"/>
          <p:cNvSpPr txBox="1"/>
          <p:nvPr>
            <p:ph idx="1" type="body"/>
          </p:nvPr>
        </p:nvSpPr>
        <p:spPr>
          <a:xfrm>
            <a:off x="311700" y="822025"/>
            <a:ext cx="3906000" cy="3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dk1"/>
                </a:solidFill>
              </a:rPr>
              <a:t>Why hallucination check matters</a:t>
            </a:r>
            <a:endParaRPr b="1" sz="16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600">
                <a:solidFill>
                  <a:schemeClr val="dk1"/>
                </a:solidFill>
              </a:rPr>
              <a:t>Incorrect facts can cause billing errors, legal risk, and GDPR violations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600">
                <a:solidFill>
                  <a:schemeClr val="dk1"/>
                </a:solidFill>
              </a:rPr>
              <a:t>Especially critical in regulated domains like energy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dk1"/>
                </a:solidFill>
              </a:rPr>
              <a:t>What we validate</a:t>
            </a:r>
            <a:endParaRPr b="1" sz="16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600">
                <a:solidFill>
                  <a:schemeClr val="dk1"/>
                </a:solidFill>
              </a:rPr>
              <a:t>New facts introduced by the model vs. customer email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600">
                <a:solidFill>
                  <a:schemeClr val="dk1"/>
                </a:solidFill>
              </a:rPr>
              <a:t>Checked entity types: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tr" sz="1600">
                <a:solidFill>
                  <a:schemeClr val="dk1"/>
                </a:solidFill>
              </a:rPr>
              <a:t>Numbers (amounts, contract IDs)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tr" sz="1600">
                <a:solidFill>
                  <a:schemeClr val="dk1"/>
                </a:solidFill>
              </a:rPr>
              <a:t>Dates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tr" sz="1600">
                <a:solidFill>
                  <a:schemeClr val="dk1"/>
                </a:solidFill>
              </a:rPr>
              <a:t>Email addresses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tr" sz="1600">
                <a:solidFill>
                  <a:schemeClr val="dk1"/>
                </a:solidFill>
              </a:rPr>
              <a:t>URLs</a:t>
            </a:r>
            <a:br>
              <a:rPr lang="t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tr" sz="1600">
                <a:solidFill>
                  <a:schemeClr val="dk1"/>
                </a:solidFill>
              </a:rPr>
              <a:t>Phone numbers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1" name="Google Shape;231;g3be323c6e44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be323c6e44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33" name="Google Shape;233;g3be323c6e44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be323c6e44_0_9"/>
          <p:cNvSpPr txBox="1"/>
          <p:nvPr>
            <p:ph idx="1" type="body"/>
          </p:nvPr>
        </p:nvSpPr>
        <p:spPr>
          <a:xfrm>
            <a:off x="4572000" y="822025"/>
            <a:ext cx="3906000" cy="3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100">
                <a:solidFill>
                  <a:schemeClr val="dk1"/>
                </a:solidFill>
              </a:rPr>
              <a:t>Rule-based extraction using regex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100">
                <a:solidFill>
                  <a:schemeClr val="dk1"/>
                </a:solidFill>
              </a:rPr>
              <a:t>Normalization to handle formatting differences (e.g., “232 671” → “232671”)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100">
                <a:solidFill>
                  <a:schemeClr val="dk1"/>
                </a:solidFill>
              </a:rPr>
              <a:t>Per-response hallucination flagging/risk detection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(Set difference: response facts − input facts) =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Any new entity ⇒ hallucination flag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chemeClr val="dk1"/>
                </a:solidFill>
              </a:rPr>
              <a:t>Final results (unseen emails, n = 10)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100">
                <a:solidFill>
                  <a:schemeClr val="dk1"/>
                </a:solidFill>
              </a:rPr>
              <a:t>Formal responses: </a:t>
            </a:r>
            <a:r>
              <a:rPr b="1" lang="tr" sz="1100">
                <a:solidFill>
                  <a:schemeClr val="dk1"/>
                </a:solidFill>
              </a:rPr>
              <a:t>0% hallucination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100">
                <a:solidFill>
                  <a:schemeClr val="dk1"/>
                </a:solidFill>
              </a:rPr>
              <a:t>Friendly responses: </a:t>
            </a:r>
            <a:r>
              <a:rPr b="1" lang="tr" sz="1100">
                <a:solidFill>
                  <a:schemeClr val="dk1"/>
                </a:solidFill>
              </a:rPr>
              <a:t>0% hallucination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tr" sz="1100">
                <a:solidFill>
                  <a:schemeClr val="dk1"/>
                </a:solidFill>
              </a:rPr>
              <a:t>No new factual entities introduced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➔"/>
            </a:pPr>
            <a:r>
              <a:rPr lang="tr" sz="1100">
                <a:solidFill>
                  <a:schemeClr val="dk1"/>
                </a:solidFill>
                <a:highlight>
                  <a:srgbClr val="FFFF00"/>
                </a:highlight>
              </a:rPr>
              <a:t>Model reliably grounds responses in customer input</a:t>
            </a:r>
            <a:br>
              <a:rPr lang="tr" sz="1100">
                <a:solidFill>
                  <a:schemeClr val="dk1"/>
                </a:solidFill>
                <a:highlight>
                  <a:srgbClr val="FFFF00"/>
                </a:highlight>
              </a:rPr>
            </a:b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➔"/>
            </a:pPr>
            <a:r>
              <a:rPr lang="tr" sz="1100">
                <a:solidFill>
                  <a:schemeClr val="dk1"/>
                </a:solidFill>
                <a:highlight>
                  <a:srgbClr val="FFFF00"/>
                </a:highlight>
              </a:rPr>
              <a:t>Suitable for internal drafting with human review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pic>
        <p:nvPicPr>
          <p:cNvPr id="235" name="Google Shape;235;g3be323c6e44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2525" y="13950"/>
            <a:ext cx="989825" cy="9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97fc18b63_13_0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Streamlit WebApp</a:t>
            </a:r>
            <a:endParaRPr sz="2000"/>
          </a:p>
        </p:txBody>
      </p:sp>
      <p:pic>
        <p:nvPicPr>
          <p:cNvPr id="241" name="Google Shape;241;g3b97fc18b63_1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b97fc18b63_13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43" name="Google Shape;243;g3b97fc18b63_1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b97fc18b63_13_0" title="final_app_record.wm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629400"/>
            <a:ext cx="7341554" cy="436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be323c6e44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010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be323c6e44_0_25"/>
          <p:cNvSpPr/>
          <p:nvPr/>
        </p:nvSpPr>
        <p:spPr>
          <a:xfrm>
            <a:off x="4716675" y="745550"/>
            <a:ext cx="3755700" cy="34146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be323c6e44_0_25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Limitations &amp; Future Outlook</a:t>
            </a:r>
            <a:endParaRPr sz="2000"/>
          </a:p>
        </p:txBody>
      </p:sp>
      <p:sp>
        <p:nvSpPr>
          <p:cNvPr id="252" name="Google Shape;252;g3be323c6e44_0_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53" name="Google Shape;253;g3be323c6e44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1325" y="4418225"/>
            <a:ext cx="989830" cy="6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be323c6e44_0_25"/>
          <p:cNvSpPr txBox="1"/>
          <p:nvPr/>
        </p:nvSpPr>
        <p:spPr>
          <a:xfrm>
            <a:off x="731850" y="795875"/>
            <a:ext cx="3447900" cy="29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Key Limitations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Compact </a:t>
            </a:r>
            <a:r>
              <a:rPr b="1" lang="tr" sz="1100">
                <a:solidFill>
                  <a:schemeClr val="dk1"/>
                </a:solidFill>
              </a:rPr>
              <a:t>TinyLlama model</a:t>
            </a:r>
            <a:r>
              <a:rPr lang="tr" sz="1100">
                <a:solidFill>
                  <a:schemeClr val="dk1"/>
                </a:solidFill>
              </a:rPr>
              <a:t> (performance ceiling)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tr" sz="1100">
                <a:solidFill>
                  <a:schemeClr val="dk1"/>
                </a:solidFill>
              </a:rPr>
              <a:t>Synthetic training data</a:t>
            </a:r>
            <a:r>
              <a:rPr lang="tr" sz="1100">
                <a:solidFill>
                  <a:schemeClr val="dk1"/>
                </a:solidFill>
              </a:rPr>
              <a:t> (no real agent replies)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No </a:t>
            </a:r>
            <a:r>
              <a:rPr b="1" lang="tr" sz="1100">
                <a:solidFill>
                  <a:schemeClr val="dk1"/>
                </a:solidFill>
              </a:rPr>
              <a:t>human-in-the-loop user study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Limited evaluation sample size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Limited data size for training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No </a:t>
            </a:r>
            <a:r>
              <a:rPr b="1" lang="tr" sz="1100">
                <a:solidFill>
                  <a:schemeClr val="dk1"/>
                </a:solidFill>
              </a:rPr>
              <a:t>backend or RAG integration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5" name="Google Shape;255;g3be323c6e44_0_25"/>
          <p:cNvSpPr txBox="1"/>
          <p:nvPr/>
        </p:nvSpPr>
        <p:spPr>
          <a:xfrm>
            <a:off x="4832325" y="745550"/>
            <a:ext cx="3524400" cy="25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100">
                <a:solidFill>
                  <a:schemeClr val="dk1"/>
                </a:solidFill>
              </a:rPr>
              <a:t>Future Outlook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Testing </a:t>
            </a:r>
            <a:r>
              <a:rPr b="1" lang="tr" sz="1100">
                <a:solidFill>
                  <a:schemeClr val="dk1"/>
                </a:solidFill>
              </a:rPr>
              <a:t>larger models</a:t>
            </a:r>
            <a:r>
              <a:rPr lang="tr" sz="1100">
                <a:solidFill>
                  <a:schemeClr val="dk1"/>
                </a:solidFill>
              </a:rPr>
              <a:t> under same constraints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Testing with more data</a:t>
            </a:r>
            <a:br>
              <a:rPr lang="t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Incorporating </a:t>
            </a:r>
            <a:r>
              <a:rPr b="1" lang="tr" sz="1100">
                <a:solidFill>
                  <a:schemeClr val="dk1"/>
                </a:solidFill>
              </a:rPr>
              <a:t>agent feedback / edits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Running </a:t>
            </a:r>
            <a:r>
              <a:rPr b="1" lang="tr" sz="1100">
                <a:solidFill>
                  <a:schemeClr val="dk1"/>
                </a:solidFill>
              </a:rPr>
              <a:t>human-in-the-loop evaluations</a:t>
            </a:r>
            <a:br>
              <a:rPr b="1" lang="t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Integrating </a:t>
            </a:r>
            <a:r>
              <a:rPr b="1" lang="tr" sz="1100">
                <a:solidFill>
                  <a:schemeClr val="dk1"/>
                </a:solidFill>
              </a:rPr>
              <a:t>retrieval-augmented generation </a:t>
            </a:r>
            <a:r>
              <a:rPr lang="tr" sz="1100">
                <a:solidFill>
                  <a:schemeClr val="dk1"/>
                </a:solidFill>
              </a:rPr>
              <a:t>to provide accurate and factually grounded answers</a:t>
            </a:r>
            <a:endParaRPr b="1"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</a:rPr>
              <a:t>Including a more personalized tool and user interface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6" name="Google Shape;256;g3be323c6e44_0_25"/>
          <p:cNvSpPr/>
          <p:nvPr/>
        </p:nvSpPr>
        <p:spPr>
          <a:xfrm>
            <a:off x="577950" y="745550"/>
            <a:ext cx="3755700" cy="34146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g3be323c6e44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450" y="3521800"/>
            <a:ext cx="1542350" cy="15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97fc18b63_8_22"/>
          <p:cNvSpPr txBox="1"/>
          <p:nvPr>
            <p:ph type="title"/>
          </p:nvPr>
        </p:nvSpPr>
        <p:spPr>
          <a:xfrm>
            <a:off x="311700" y="87300"/>
            <a:ext cx="752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000"/>
              <a:t>References</a:t>
            </a:r>
            <a:endParaRPr sz="2000"/>
          </a:p>
        </p:txBody>
      </p:sp>
      <p:sp>
        <p:nvSpPr>
          <p:cNvPr id="263" name="Google Shape;263;g3b97fc18b63_8_22"/>
          <p:cNvSpPr txBox="1"/>
          <p:nvPr>
            <p:ph idx="1" type="body"/>
          </p:nvPr>
        </p:nvSpPr>
        <p:spPr>
          <a:xfrm>
            <a:off x="107975" y="568150"/>
            <a:ext cx="8633100" cy="4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tr" sz="1150">
                <a:solidFill>
                  <a:schemeClr val="dk1"/>
                </a:solidFill>
              </a:rPr>
              <a:t>Boston Consulting Group. (2023, July 6). How generative AI is already transforming customer service.</a:t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tr" sz="1150">
                <a:solidFill>
                  <a:schemeClr val="dk1"/>
                </a:solidFill>
              </a:rPr>
              <a:t>Cai, W., Jiang, J., Wang, F., Tang, J., Kim, S., \&amp; Huang, J. (2025). A survey on mixture of experts in large language models. IEEE Transactions on Knowledge and Data Engineering, 37(7), 3896–3915. https://doi.org/10.1109/TKDE.2025.3554028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tr" sz="1150">
                <a:solidFill>
                  <a:schemeClr val="dk1"/>
                </a:solidFill>
              </a:rPr>
              <a:t>Costa, C., \&amp; Ghosh, S. (2025). Empowering customer service with generative AI: Enhancing agent performance while navigating challenges.Information Research, 30(iConf). https://doi.org/10.47989/ir30iConf47566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tr" sz="1150">
                <a:solidFill>
                  <a:schemeClr val="dk1"/>
                </a:solidFill>
              </a:rPr>
              <a:t>Janssens, W., Bogaert, M., \&amp; Van den Poel, D. (2025). LLM-assisted topic reduction for BERTopic on social media data (Version 1). arXiv.lhttps://doi.org/10.48550/arXiv.2509.19365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tr" sz="1150">
                <a:solidFill>
                  <a:schemeClr val="dk1"/>
                </a:solidFill>
              </a:rPr>
              <a:t>Thiergart, J., Huber, S., \&amp; Übellacker, T. (2021). Understanding emails and drafting responses: An approach using GPT-3 (Version 3).arXiv. https://doi.org/10.48550/arXiv.2102.03062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tr" sz="1150">
                <a:solidFill>
                  <a:schemeClr val="dk1"/>
                </a:solidFill>
              </a:rPr>
              <a:t>Ünlü, C. (2023). InterpreTutor: Using large language models for interpreter assessment. In \textit{Proceedings of the International Conference on Human-Informed Translation and Interpreting Technology (HiT-IT 2023)}, Naples, Italy. https://doi.org/10.26615/issn.2683-0078.2023_007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tr" sz="1150">
                <a:solidFill>
                  <a:schemeClr val="dk1"/>
                </a:solidFill>
              </a:rPr>
              <a:t>Wulf, J., \&amp; Meierhofer, J. (2024). Utilizing large language models for automating technical customer support (Version 1).arXiv.https://doi.org/10.48550/arXiv.2406.01407</a:t>
            </a:r>
            <a:endParaRPr sz="1150">
              <a:solidFill>
                <a:schemeClr val="dk1"/>
              </a:solidFill>
            </a:endParaRPr>
          </a:p>
        </p:txBody>
      </p:sp>
      <p:pic>
        <p:nvPicPr>
          <p:cNvPr id="264" name="Google Shape;264;g3b97fc18b63_8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435" y="-5"/>
            <a:ext cx="1322191" cy="10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97fc18b63_8_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66" name="Google Shape;266;g3b97fc18b63_8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900" y="4294825"/>
            <a:ext cx="11811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97fc18b63_2_87"/>
          <p:cNvSpPr txBox="1"/>
          <p:nvPr>
            <p:ph type="title"/>
          </p:nvPr>
        </p:nvSpPr>
        <p:spPr>
          <a:xfrm>
            <a:off x="319090" y="745751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Thank You!</a:t>
            </a:r>
            <a:endParaRPr/>
          </a:p>
        </p:txBody>
      </p:sp>
      <p:sp>
        <p:nvSpPr>
          <p:cNvPr id="272" name="Google Shape;272;g3b97fc18b63_2_87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Munich, 30. January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el 2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el 1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